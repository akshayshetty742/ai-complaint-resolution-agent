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AI Complaint Resolution Agent</a:t>
            </a:r>
          </a:p>
          <a:p>
            <a:pPr algn="ctr">
              <a:defRPr sz="2500"/>
            </a:pPr>
            <a:r>
              <a:t>Using RAG and Prompt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46120"/>
            <a:ext cx="9966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Aptos"/>
              </a:defRPr>
            </a:pPr>
            <a:r>
              <a:t>Mini Project – Review 1</a:t>
            </a:r>
          </a:p>
          <a:p>
            <a:pPr algn="ctr">
              <a:defRPr sz="1800">
                <a:latin typeface="Aptos"/>
              </a:defRPr>
            </a:pPr>
            <a:r>
              <a:t>Idea Presentation + Literature Survey</a:t>
            </a:r>
          </a:p>
          <a:p>
            <a:pPr algn="ctr">
              <a:defRPr sz="1500">
                <a:latin typeface="Aptos"/>
              </a:defRPr>
            </a:pPr>
            <a:r>
              <a:t>Team Members: ______________________________</a:t>
            </a:r>
          </a:p>
          <a:p>
            <a:pPr algn="ctr">
              <a:defRPr sz="1500">
                <a:latin typeface="Aptos"/>
              </a:defRPr>
            </a:pPr>
            <a:r>
              <a:t>Course / Faculty: 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Customer complaints are often handled manually, requiring support staff to understand the complaint and search relevant policies.</a:t>
            </a:r>
          </a:p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Manual handling can result in delayed responses, inconsistent resolutions, and difficulty locating the correct policy information.</a:t>
            </a:r>
          </a:p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The proposed system combines Generative AI, Retrieval-Augmented Generation (RAG), and prompt engineering.</a:t>
            </a:r>
          </a:p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The system will convert a natural-language complaint into a structured, policy-grounded resolution.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0241280" cy="3566160"/>
          </a:xfrm>
          <a:prstGeom prst="roundRect">
            <a:avLst/>
          </a:prstGeom>
          <a:solidFill>
            <a:srgbClr val="F7F9FC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941832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latin typeface="Aptos"/>
              </a:defRPr>
            </a:pPr>
            <a:r>
              <a:t>To develop an AI-based complaint resolution system that understands customer complaints, identifies complaint category, sentiment and priority, retrieves relevant company policies using RAG, and generates a clear response that is grounded in the retrieved 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latin typeface="Aptos"/>
              </a:defRPr>
            </a:pPr>
            <a:r>
              <a:t>Classify complaints into categories such as refund, return, delivery, damaged product, warranty and payment.</a:t>
            </a:r>
          </a:p>
          <a:p>
            <a:pPr>
              <a:spcAft>
                <a:spcPts val="900"/>
              </a:spcAft>
              <a:defRPr sz="1900" b="0">
                <a:latin typeface="Aptos"/>
              </a:defRPr>
            </a:pPr>
            <a:r>
              <a:t>Detect customer sentiment and assign complaint priority.</a:t>
            </a:r>
          </a:p>
          <a:p>
            <a:pPr>
              <a:spcAft>
                <a:spcPts val="900"/>
              </a:spcAft>
              <a:defRPr sz="1900" b="0">
                <a:latin typeface="Aptos"/>
              </a:defRPr>
            </a:pPr>
            <a:r>
              <a:t>Create a small company-policy knowledge base for retrieval.</a:t>
            </a:r>
          </a:p>
          <a:p>
            <a:pPr>
              <a:spcAft>
                <a:spcPts val="900"/>
              </a:spcAft>
              <a:defRPr sz="1900" b="0">
                <a:latin typeface="Aptos"/>
              </a:defRPr>
            </a:pPr>
            <a:r>
              <a:t>Use embeddings and a vector database to retrieve relevant policy chunks.</a:t>
            </a:r>
          </a:p>
          <a:p>
            <a:pPr>
              <a:spcAft>
                <a:spcPts val="900"/>
              </a:spcAft>
              <a:defRPr sz="1900" b="0">
                <a:latin typeface="Aptos"/>
              </a:defRPr>
            </a:pPr>
            <a:r>
              <a:t>Generate a structured resolution and customer-facing response using an LLM.</a:t>
            </a:r>
          </a:p>
          <a:p>
            <a:pPr>
              <a:spcAft>
                <a:spcPts val="900"/>
              </a:spcAft>
              <a:defRPr sz="1900" b="0">
                <a:latin typeface="Aptos"/>
              </a:defRPr>
            </a:pPr>
            <a:r>
              <a:t>Compare prompting strategies and refine the prompt using evaluation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4. Existing System / Current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80160"/>
            <a:ext cx="5349240" cy="4800600"/>
          </a:xfrm>
          <a:prstGeom prst="roundRect">
            <a:avLst/>
          </a:prstGeom>
          <a:solidFill>
            <a:srgbClr val="F5F8FC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Typical Manual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Customer submits complaint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Human agent reads and categorizes it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Agent searches company policy / FAQ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Agent decides the resolution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Agent writes the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80160"/>
            <a:ext cx="5349240" cy="4800600"/>
          </a:xfrm>
          <a:prstGeom prst="roundRect">
            <a:avLst/>
          </a:prstGeom>
          <a:solidFill>
            <a:srgbClr val="F5F8FC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Time-consuming for large complaint volumes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Policy lookup may be inconsistent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Responses can vary between agents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Harder to scale during high demand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Knowledge is not automatically retrieved and grounded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5.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latin typeface="Aptos"/>
              </a:defRPr>
            </a:pPr>
            <a:r>
              <a:t>Input: customer complaint in natural language.</a:t>
            </a:r>
          </a:p>
          <a:p>
            <a:pPr>
              <a:spcAft>
                <a:spcPts val="900"/>
              </a:spcAft>
              <a:defRPr sz="1900" b="0">
                <a:latin typeface="Aptos"/>
              </a:defRPr>
            </a:pPr>
            <a:r>
              <a:t>Analyze: category + sentiment + priority.</a:t>
            </a:r>
          </a:p>
          <a:p>
            <a:pPr>
              <a:spcAft>
                <a:spcPts val="900"/>
              </a:spcAft>
              <a:defRPr sz="1900" b="0">
                <a:latin typeface="Aptos"/>
              </a:defRPr>
            </a:pPr>
            <a:r>
              <a:t>Retrieve: relevant policy chunks from the knowledge base using semantic search.</a:t>
            </a:r>
          </a:p>
          <a:p>
            <a:pPr>
              <a:spcAft>
                <a:spcPts val="900"/>
              </a:spcAft>
              <a:defRPr sz="1900" b="0">
                <a:latin typeface="Aptos"/>
              </a:defRPr>
            </a:pPr>
            <a:r>
              <a:t>Generate: use the retrieved context with an optimized prompt and an LLM.</a:t>
            </a:r>
          </a:p>
          <a:p>
            <a:pPr>
              <a:spcAft>
                <a:spcPts val="900"/>
              </a:spcAft>
              <a:defRPr sz="1900" b="0">
                <a:latin typeface="Aptos"/>
              </a:defRPr>
            </a:pPr>
            <a:r>
              <a:t>Output: structured fields plus a clear customer-facing response.</a:t>
            </a:r>
          </a:p>
          <a:p>
            <a:pPr>
              <a:spcAft>
                <a:spcPts val="900"/>
              </a:spcAft>
              <a:defRPr sz="1900" b="0">
                <a:latin typeface="Aptos"/>
              </a:defRPr>
            </a:pPr>
            <a:r>
              <a:t>Design principle: the generated resolution should be grounded in available policy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6. 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192024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78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Customer Complaint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645920"/>
            <a:ext cx="192024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78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1810512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Classification</a:t>
            </a:r>
            <a:br/>
            <a:r>
              <a:t>+ Sentiment</a:t>
            </a:r>
            <a:br/>
            <a:r>
              <a:t>+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645920"/>
            <a:ext cx="192024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78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1810512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Query Embedding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192024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78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19" y="1810512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Vector Database</a:t>
            </a:r>
            <a:br/>
            <a:r>
              <a:t>(FAISS/Chroma)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023360"/>
            <a:ext cx="192024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78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4187952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Retrieved Policy</a:t>
            </a:r>
            <a:br/>
            <a:r>
              <a:t>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4023360"/>
            <a:ext cx="192024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78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4187952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Optimized Prompt</a:t>
            </a:r>
            <a:br/>
            <a:r>
              <a:t>+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4023360"/>
            <a:ext cx="192024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78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187952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Resolution +</a:t>
            </a:r>
            <a:br/>
            <a:r>
              <a:t>Customer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187451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87451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187451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8346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3891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3891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3891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7. RAG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1. Collect policy documents: refund, return, warranty, shipping, payment, damaged-product and support policies.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2. Split documents into smaller chunks.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3. Convert chunks into vector embeddings.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4. Store embeddings in FAISS or ChromaDB.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5. Convert the complaint into an embedding and retrieve the most relevant chunks.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6. Pass the retrieved policy context to the LLM so the response is grounded in the knowledge 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8. Prompt Engineering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Zero-shot prompting — direct task instruction.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Role prompting — define the model as a complaint-resolution specialist.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Few-shot prompting — provide representative examples.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Structured prompting — explicitly request category, sentiment, priority, resolution and response.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RAG prompting — instruct the model to use retrieved policy context.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Optimization — compare outputs using relevance, clarity, consistency and policy adherence, then refine the prompt.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9. Literature Survey – RAG &amp; Prompting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25880"/>
          <a:ext cx="113385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914400"/>
                <a:gridCol w="3337560"/>
                <a:gridCol w="4663440"/>
              </a:tblGrid>
              <a:tr h="11201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Work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Year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Main Contribution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Relevance to Our Project</a:t>
                      </a:r>
                    </a:p>
                  </a:txBody>
                  <a:tcPr anchor="t"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Lewis et al., “Retrieval-Augmented Generation for Knowledge-Intensive NLP Tasks”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2020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Introduced RAG models combining parametric generation with a dense retrieval index.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Provides the core RAG idea for retrieving policy knowledge before generation.</a:t>
                      </a:r>
                    </a:p>
                  </a:txBody>
                  <a:tcPr anchor="t"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Gao et al., “RAG for Large Language Models: A Survey”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2023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Surveys RAG architectures, retrieval, augmentation, generation and evaluation.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Helps select and explain the retrieval + generation pipeline.</a:t>
                      </a:r>
                    </a:p>
                  </a:txBody>
                  <a:tcPr anchor="t"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Wei et al., “Chain-of-Thought Prompting…”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2022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Showed that prompting with reasoning examples can improve performance on reasoning tasks.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Motivates structured/few-shot prompt experiments; our project evaluates what is useful for complaint resolution.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10. Literature Survey – Complaint Handling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25880"/>
          <a:ext cx="113385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3657600"/>
                <a:gridCol w="4023360"/>
              </a:tblGrid>
              <a:tr h="11201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Work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Year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Main Contribution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Relevance / Limitation Addressed</a:t>
                      </a:r>
                    </a:p>
                  </a:txBody>
                  <a:tcPr anchor="t"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Angell et al., “Improving customer complaint management by automatic email classification…”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2008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Studied automatic classification of complaint vs non-complaint emails using textual and linguistic-style features.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Supports the complaint-classification module; our project extends classification toward an LLM + RAG resolution pipeline.</a:t>
                      </a:r>
                    </a:p>
                  </a:txBody>
                  <a:tcPr anchor="t"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Hsiao et al., “Ontology-based reasoning for the intelligent handling of customer complaints”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2015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Built complaint-handling ontology and case-based retrieval for systematic complaint resolution.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Supports knowledge-based retrieval; our project uses embedding-based retrieval with RAG.</a:t>
                      </a:r>
                    </a:p>
                  </a:txBody>
                  <a:tcPr anchor="t"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Alyahya, Agag &amp; Abdelwahab, “AI-enabled complaint handling and customer recommendation”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2026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Examined AI-enabled complaint handling using a real retailer rollout and studied conditions affecting outcomes.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Provides recent evidence that AI complaint handling is an active research area; also highlights the need for appropriate human escalation.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11. Research Gap / Project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Prior complaint-handling research includes automatic classification and knowledge-based retrieval, while newer work examines AI-enabled complaint handling.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RAG research provides a way to connect an LLM to an external, updateable knowledge base.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Prompting research provides techniques for controlling model outputs.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Our project combines these elements into one practical pipeline: complaint analysis → policy retrieval → prompt-controlled generation → structured resolution.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The project will experimentally compare prompts and evaluate whether retrieval and prompt design improve policy adherence.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12. Proposed Modules &amp;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80160"/>
            <a:ext cx="5349240" cy="4800600"/>
          </a:xfrm>
          <a:prstGeom prst="roundRect">
            <a:avLst/>
          </a:prstGeom>
          <a:solidFill>
            <a:srgbClr val="F5F8FC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Main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Complaint input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Category classification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Sentiment detection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Priority detection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Document processing + embeddings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Vector retrieval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Prompt engine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LLM response generation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Evaluation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80160"/>
            <a:ext cx="5349240" cy="4800600"/>
          </a:xfrm>
          <a:prstGeom prst="roundRect">
            <a:avLst/>
          </a:prstGeom>
          <a:solidFill>
            <a:srgbClr val="F5F8FC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Initial Knowledge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Refund policy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Return policy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Warranty policy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Shipping policy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Damaged-product policy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Payment policy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General support / FAQ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Test complaint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13. 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A working prototype that accepts a complaint and produces a structured analysis.</a:t>
            </a:r>
          </a:p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Relevant company policy passages are retrieved before response generation.</a:t>
            </a:r>
          </a:p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The final response is grounded in the retrieved policy context.</a:t>
            </a:r>
          </a:p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Prompt variants can be compared using a defined evaluation set.</a:t>
            </a:r>
          </a:p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Final Streamlit interface will demonstrate the complete end-to-end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14.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80160"/>
            <a:ext cx="5349240" cy="4800600"/>
          </a:xfrm>
          <a:prstGeom prst="roundRect">
            <a:avLst/>
          </a:prstGeom>
          <a:solidFill>
            <a:srgbClr val="F5F8FC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Core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Python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LLM API or Hugging Face model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LangChain or similar framework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Embedding model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FAISS / ChromaDB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Streamlit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80160"/>
            <a:ext cx="5349240" cy="4800600"/>
          </a:xfrm>
          <a:prstGeom prst="roundRect">
            <a:avLst/>
          </a:prstGeom>
          <a:solidFill>
            <a:srgbClr val="F5F8FC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Development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Policy knowledge base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Complaint test dataset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Prompt templates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Evaluation results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Streamlit prototype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IEEE-format final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15. Work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Review 1: finalize idea, literature survey, objectives and high-level architecture.</a:t>
            </a:r>
          </a:p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Review 2: complete high-level design, knowledge-base/data collection and working prototype.</a:t>
            </a:r>
          </a:p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Review 3: complete RAG pipeline, prompt optimization, evaluation and final demonstration.</a:t>
            </a:r>
          </a:p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Final submission: IEEE-format report, source code, results and demonstration.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16.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latin typeface="Aptos"/>
              </a:defRPr>
            </a:pPr>
            <a:r>
              <a:t>[1] P. Lewis et al., “Retrieval-Augmented Generation for Knowledge-Intensive NLP Tasks,” 2020.</a:t>
            </a:r>
          </a:p>
          <a:p>
            <a:pPr>
              <a:spcAft>
                <a:spcPts val="900"/>
              </a:spcAft>
              <a:defRPr sz="1500" b="0">
                <a:latin typeface="Aptos"/>
              </a:defRPr>
            </a:pPr>
            <a:r>
              <a:t>[2] Y. Gao et al., “Retrieval-Augmented Generation for Large Language Models: A Survey,” 2023.</a:t>
            </a:r>
          </a:p>
          <a:p>
            <a:pPr>
              <a:spcAft>
                <a:spcPts val="900"/>
              </a:spcAft>
              <a:defRPr sz="1500" b="0">
                <a:latin typeface="Aptos"/>
              </a:defRPr>
            </a:pPr>
            <a:r>
              <a:t>[3] J. Wei et al., “Chain-of-Thought Prompting Elicits Reasoning in Large Language Models,” 2022.</a:t>
            </a:r>
          </a:p>
          <a:p>
            <a:pPr>
              <a:spcAft>
                <a:spcPts val="900"/>
              </a:spcAft>
              <a:defRPr sz="1500" b="0">
                <a:latin typeface="Aptos"/>
              </a:defRPr>
            </a:pPr>
            <a:r>
              <a:t>[4] M. Angell, “Improving customer complaint management by automatic email classification using linguistic style features as predictors,” Decision Support Systems, 2008.</a:t>
            </a:r>
          </a:p>
          <a:p>
            <a:pPr>
              <a:spcAft>
                <a:spcPts val="900"/>
              </a:spcAft>
              <a:defRPr sz="1500" b="0">
                <a:latin typeface="Aptos"/>
              </a:defRPr>
            </a:pPr>
            <a:r>
              <a:t>[5] M.-H. Hsiao et al., “Ontology-based reasoning for the intelligent handling of customer complaints,” Computers &amp; Industrial Engineering, 2015.</a:t>
            </a:r>
          </a:p>
          <a:p>
            <a:pPr>
              <a:spcAft>
                <a:spcPts val="900"/>
              </a:spcAft>
              <a:defRPr sz="1500" b="0">
                <a:latin typeface="Aptos"/>
              </a:defRPr>
            </a:pPr>
            <a:r>
              <a:t>[6] M. A. Alyahya, G. M. Agag, M. S. T. Abdelwahab, “AI-enabled complaint handling and customer recommendation,” Journal of Retailing and Consumer Services,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